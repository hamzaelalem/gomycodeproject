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eed03ff6f0482d" /><Relationship Type="http://schemas.openxmlformats.org/officeDocument/2006/relationships/extended-properties" Target="/docProps/app.xml" Id="Ra1901a5aa83b4089" /><Relationship Type="http://schemas.openxmlformats.org/officeDocument/2006/relationships/officeDocument" Target="/ppt/presentation.xml" Id="R425b031fa94642ad" /></Relationships>
</file>

<file path=ppt/presentation.xml><?xml version="1.0" encoding="utf-8"?>
<p:presentation xmlns:p="http://schemas.openxmlformats.org/presentationml/2006/main">
  <p:sldMasterIdLst>
    <p:sldMasterId xmlns:r="http://schemas.openxmlformats.org/officeDocument/2006/relationships" id="2147483648" r:id="R8d9c7a2e05864d54"/>
  </p:sldMasterIdLst>
  <p:notesMasterIdLst>
    <p:notesMasterId xmlns:r="http://schemas.openxmlformats.org/officeDocument/2006/relationships" r:id="R78972d422ba74c5f"/>
  </p:notesMasterIdLst>
  <p:sldIdLst>
    <p:sldId xmlns:r="http://schemas.openxmlformats.org/officeDocument/2006/relationships" id="256" r:id="Rd7fa9fbd05a445e4"/>
    <p:sldId xmlns:r="http://schemas.openxmlformats.org/officeDocument/2006/relationships" id="257" r:id="R23ae6df4af2c4cf0"/>
    <p:sldId xmlns:r="http://schemas.openxmlformats.org/officeDocument/2006/relationships" id="258" r:id="Rd71b42c4119e464a"/>
    <p:sldId xmlns:r="http://schemas.openxmlformats.org/officeDocument/2006/relationships" id="259" r:id="R23f5400380b44d3e"/>
    <p:sldId xmlns:r="http://schemas.openxmlformats.org/officeDocument/2006/relationships" id="260" r:id="Re560893412ef424e"/>
    <p:sldId xmlns:r="http://schemas.openxmlformats.org/officeDocument/2006/relationships" id="261" r:id="Rfcfc32dd3b7c4357"/>
    <p:sldId xmlns:r="http://schemas.openxmlformats.org/officeDocument/2006/relationships" id="262" r:id="Rec211d67ceea49c8"/>
    <p:sldId xmlns:r="http://schemas.openxmlformats.org/officeDocument/2006/relationships" id="263" r:id="R79f14bbed65c4c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6b304725f14e9b" /><Relationship Type="http://schemas.openxmlformats.org/officeDocument/2006/relationships/slideMaster" Target="/ppt/slideMasters/slideMaster1.xml" Id="R8d9c7a2e05864d54" /><Relationship Type="http://schemas.openxmlformats.org/officeDocument/2006/relationships/notesMaster" Target="/ppt/notesMasters/notesMaster1.xml" Id="R78972d422ba74c5f" /><Relationship Type="http://schemas.openxmlformats.org/officeDocument/2006/relationships/presProps" Target="/ppt/presProps.xml" Id="R86b2b9ae856d4292" /><Relationship Type="http://schemas.openxmlformats.org/officeDocument/2006/relationships/tableStyles" Target="/ppt/tableStyles.xml" Id="R4b4b4644303d4081" /><Relationship Type="http://schemas.openxmlformats.org/officeDocument/2006/relationships/slide" Target="/ppt/slides/slide1.xml" Id="Rd7fa9fbd05a445e4" /><Relationship Type="http://schemas.openxmlformats.org/officeDocument/2006/relationships/slide" Target="/ppt/slides/slide2.xml" Id="R23ae6df4af2c4cf0" /><Relationship Type="http://schemas.openxmlformats.org/officeDocument/2006/relationships/slide" Target="/ppt/slides/slide3.xml" Id="Rd71b42c4119e464a" /><Relationship Type="http://schemas.openxmlformats.org/officeDocument/2006/relationships/slide" Target="/ppt/slides/slide4.xml" Id="R23f5400380b44d3e" /><Relationship Type="http://schemas.openxmlformats.org/officeDocument/2006/relationships/slide" Target="/ppt/slides/slide5.xml" Id="Re560893412ef424e" /><Relationship Type="http://schemas.openxmlformats.org/officeDocument/2006/relationships/slide" Target="/ppt/slides/slide6.xml" Id="Rfcfc32dd3b7c4357" /><Relationship Type="http://schemas.openxmlformats.org/officeDocument/2006/relationships/slide" Target="/ppt/slides/slide7.xml" Id="Rec211d67ceea49c8" /><Relationship Type="http://schemas.openxmlformats.org/officeDocument/2006/relationships/slide" Target="/ppt/slides/slide8.xml" Id="R79f14bbed65c4c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423cbe7bb948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db54175aa84df9" /><Relationship Type="http://schemas.openxmlformats.org/officeDocument/2006/relationships/notesMaster" Target="/ppt/notesMasters/notesMaster1.xml" Id="Re17ca1f9e3974e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73bd3d3e804454" /><Relationship Type="http://schemas.openxmlformats.org/officeDocument/2006/relationships/notesMaster" Target="/ppt/notesMasters/notesMaster1.xml" Id="R25353a69e26341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f88eb371094460" /><Relationship Type="http://schemas.openxmlformats.org/officeDocument/2006/relationships/notesMaster" Target="/ppt/notesMasters/notesMaster1.xml" Id="R9a6967f9af2c4a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1f6f6aa0f84f97" /><Relationship Type="http://schemas.openxmlformats.org/officeDocument/2006/relationships/notesMaster" Target="/ppt/notesMasters/notesMaster1.xml" Id="R26d24df20df144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4d068d8503495f" /><Relationship Type="http://schemas.openxmlformats.org/officeDocument/2006/relationships/notesMaster" Target="/ppt/notesMasters/notesMaster1.xml" Id="Rc45f76ca92dc4c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51a8ed5be04f3b" /><Relationship Type="http://schemas.openxmlformats.org/officeDocument/2006/relationships/notesMaster" Target="/ppt/notesMasters/notesMaster1.xml" Id="R60fb8d9c174f47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96d98080424d64" /><Relationship Type="http://schemas.openxmlformats.org/officeDocument/2006/relationships/notesMaster" Target="/ppt/notesMasters/notesMaster1.xml" Id="R5aa3d3aaf6f74f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1fe19eb5724ab4" /><Relationship Type="http://schemas.openxmlformats.org/officeDocument/2006/relationships/notesMaster" Target="/ppt/notesMasters/notesMaster1.xml" Id="R63821a349b934c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Layer brings portfolio information and scenario analysis into one review workflow. Our prototype helps an investment reviewer examine a recommendation before deciding what to do.</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reviewer needs to connect holdings, changing assumptions, and the evidence behind a decision. The project puts these questions in one interface. This is our problem framing, not a claim based on measured customer research.</a:t>
            </a:r>
          </a:p>
          <a:p xmlns:a="http://schemas.openxmlformats.org/drawingml/2006/main">
            <a:r>
              <a:t/>
            </a:r>
          </a:p>
          <a:p xmlns:a="http://schemas.openxmlformats.org/drawingml/2006/main">
            <a:r>
              <a:t>Project sources: README.md, components/pages/dashboard/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flow starts with a portfolio, explores assumptions, then reviews a recommendation and records a decision. In the screen recording, demonstrate a holding edit, a scenario change, and an existing recommendation review. Use synthetic data throughout.</a:t>
            </a:r>
          </a:p>
          <a:p xmlns:a="http://schemas.openxmlformats.org/drawingml/2006/main">
            <a:r>
              <a:t/>
            </a:r>
          </a:p>
          <a:p xmlns:a="http://schemas.openxmlformats.org/drawingml/2006/main">
            <a:r>
              <a:t>Project sources: components/pages/portfolio/, components/pages/scenarios/, components/pages/recommendations/, components/pages/workflow/</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sample portfolio contains 18 synthetic holdings across 9 sectors, with a total illustrative AUM of 15.3 billion US dollars. The chart aggregates fixture values by sector. These numbers show the data model and interaction, not real assets under management or investment performance.</a:t>
            </a:r>
          </a:p>
          <a:p xmlns:a="http://schemas.openxmlformats.org/drawingml/2006/main">
            <a:r>
              <a:t/>
            </a:r>
          </a:p>
          <a:p xmlns:a="http://schemas.openxmlformats.org/drawingml/2006/main">
            <a:r>
              <a:t>Project sources: mock-data/portfolio.ts, lib/portfolio/summary.ts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Sentinel proposes an action for each holding and explains its rationale. Guardrails cap raw adjustments at five percentage points and force HOLD when confidence is below 55 or no headlines are available. The reviewer signs off before simulating. Current scans still use external RSS. The safe offline scan remains planned. Simulations do not change saved holdings and do not execute trades.</a:t>
            </a:r>
          </a:p>
          <a:p xmlns:a="http://schemas.openxmlformats.org/drawingml/2006/main">
            <a:r>
              <a:t/>
            </a:r>
          </a:p>
          <a:p xmlns:a="http://schemas.openxmlformats.org/drawingml/2006/main">
            <a:r>
              <a:t>Project sources: lib/sentinel/rebalance.ts, app/api/portfolio/rebalance/route.ts, components/pages/sentinel/usePortfolioSentinelViewModel.ts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separates pages from view-model hooks. Shared TypeScript modules handle calculations and safeguards, while PostgreSQL stores portfolio and review records. Optional inference and document retrieval sit behind separate modules. This deck contains no credentials or private configuration.</a:t>
            </a:r>
          </a:p>
          <a:p xmlns:a="http://schemas.openxmlformats.org/drawingml/2006/main">
            <a:r>
              <a:t/>
            </a:r>
          </a:p>
          <a:p xmlns:a="http://schemas.openxmlformats.org/drawingml/2006/main">
            <a:r>
              <a:t>Project sources: package.json, lib/store/useGlobalStore.ts, prisma/schema.prisma,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portfolio, scenario and review features are implemented. The earlier source review passed 49 tests and TypeScript, with one lint warning. A clean production build and full browser walkthrough were not verified in that review. The remaining submission work includes offline synthetic operation, configuration cleanup, and the three accessible links. No secret values appear in this deck.</a:t>
            </a:r>
          </a:p>
          <a:p xmlns:a="http://schemas.openxmlformats.org/drawingml/2006/main">
            <a:r>
              <a:t/>
            </a:r>
          </a:p>
          <a:p xmlns:a="http://schemas.openxmlformats.org/drawingml/2006/main">
            <a:r>
              <a:t>Project sources: README.md, source review results from 27 September 2026 in the project conversation</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is a clear path through the information behind a decision, with a human reviewer responsible for the outcome. The next milestone is a reproducible synthetic demonstration, followed by persistent Sentinel review history. We do not claim measured time savings, predictive accuracy, or financial returns.</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9aa658d45340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eec2c28c044063" /><Relationship Type="http://schemas.openxmlformats.org/officeDocument/2006/relationships/slideLayout" Target="/ppt/slideLayouts/slideLayout1.xml" Id="Rf94914bf0ac54c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4914bf0ac54c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ef001f13814362" /><Relationship Type="http://schemas.openxmlformats.org/officeDocument/2006/relationships/notesSlide" Target="/ppt/notesSlides/notesSlide1.xml" Id="R82a0f0bab9cb43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f7acbd98c8495a" /><Relationship Type="http://schemas.openxmlformats.org/officeDocument/2006/relationships/notesSlide" Target="/ppt/notesSlides/notesSlide2.xml" Id="Rd4bb4aeaa4734d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b8fa631089460a" /><Relationship Type="http://schemas.openxmlformats.org/officeDocument/2006/relationships/notesSlide" Target="/ppt/notesSlides/notesSlide3.xml" Id="R4371c8a17f914f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65720e064f4570" /><Relationship Type="http://schemas.openxmlformats.org/officeDocument/2006/relationships/chart" Target="/ppt/slides/charts/chart1.xml" Id="Ra6d4e90fb30f48bf" /><Relationship Type="http://schemas.openxmlformats.org/officeDocument/2006/relationships/notesSlide" Target="/ppt/notesSlides/notesSlide4.xml" Id="Rd28f87158baa42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529fcfe8894c0d" /><Relationship Type="http://schemas.openxmlformats.org/officeDocument/2006/relationships/notesSlide" Target="/ppt/notesSlides/notesSlide5.xml" Id="R75cde85030ed48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43f1e2282f4f42" /><Relationship Type="http://schemas.openxmlformats.org/officeDocument/2006/relationships/notesSlide" Target="/ppt/notesSlides/notesSlide6.xml" Id="R1be986ca8d114a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48508858eb4e49" /><Relationship Type="http://schemas.openxmlformats.org/officeDocument/2006/relationships/notesSlide" Target="/ppt/notesSlides/notesSlide7.xml" Id="Rc2a7d5e0615e49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fdf438b9e148e2" /><Relationship Type="http://schemas.openxmlformats.org/officeDocument/2006/relationships/notesSlide" Target="/ppt/notesSlides/notesSlide8.xml" Id="Re81f67da763a42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Synthetic AUM (USD billions)</c:v>
          </c:tx>
          <c:spPr>
            <a:solidFill xmlns:a="http://schemas.openxmlformats.org/drawingml/2006/main">
              <a:srgbClr val="007F78"/>
            </a:solidFill>
          </c:spPr>
          <c:cat>
            <c:strRef>
              <c:f>'Chart Data'!$A$2:$A$10</c:f>
              <c:strCache>
                <c:ptCount val="9"/>
                <c:pt idx="0">
                  <c:v>Oil &amp; Gas</c:v>
                </c:pt>
                <c:pt idx="1">
                  <c:v>Properties</c:v>
                </c:pt>
                <c:pt idx="2">
                  <c:v>Logistics</c:v>
                </c:pt>
                <c:pt idx="3">
                  <c:v>Solar &amp; Energy</c:v>
                </c:pt>
                <c:pt idx="4">
                  <c:v>Banking</c:v>
                </c:pt>
                <c:pt idx="5">
                  <c:v>Hospitals</c:v>
                </c:pt>
                <c:pt idx="6">
                  <c:v>Water Treatment</c:v>
                </c:pt>
                <c:pt idx="7">
                  <c:v>Hotels</c:v>
                </c:pt>
                <c:pt idx="8">
                  <c:v>Agriculture</c:v>
                </c:pt>
              </c:strCache>
            </c:strRef>
          </c:cat>
          <c:val>
            <c:numRef>
              <c:f>'Chart Data'!$B$2:$B$10</c:f>
              <c:numCache>
                <c:formatCode>0.0</c:formatCode>
                <c:ptCount val="9"/>
                <c:pt idx="0">
                  <c:v>2.9</c:v>
                </c:pt>
                <c:pt idx="1">
                  <c:v>1.9</c:v>
                </c:pt>
                <c:pt idx="2">
                  <c:v>1.9</c:v>
                </c:pt>
                <c:pt idx="3">
                  <c:v>1.6</c:v>
                </c:pt>
                <c:pt idx="4">
                  <c:v>1.6</c:v>
                </c:pt>
                <c:pt idx="5">
                  <c:v>1.6</c:v>
                </c:pt>
                <c:pt idx="6">
                  <c:v>1.4</c:v>
                </c:pt>
                <c:pt idx="7">
                  <c:v>1.3</c:v>
                </c:pt>
                <c:pt idx="8">
                  <c:v>1.1</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02D36"/>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02D3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02D36"/>
                </a:solidFill>
                <a:latin typeface="Arial"/>
                <a:ea typeface="Arial"/>
                <a:cs typeface="Arial"/>
              </a:defRPr>
            </a:pPr>
          </a:p>
        </c:txPr>
        <c:crossAx val="48650112"/>
        <c:crossBetween val="between"/>
      </c:valAx>
      <c:spPr>
        <a:solidFill xmlns:a="http://schemas.openxmlformats.org/drawingml/2006/main">
          <a:srgbClr val="F5F6F2"/>
        </a:solidFill>
      </c:spPr>
    </c:plotArea>
    <c:plotVisOnly val="1"/>
  </c:chart>
  <c:spPr>
    <a:solidFill xmlns:a="http://schemas.openxmlformats.org/drawingml/2006/main">
      <a:srgbClr val="F5F6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57AF11-0875-42C4-966C-B5621D5B596B}"/>
              </a:ext>
            </a:extLst>
          </p:cNvPr>
          <p:cNvSpPr>
            <a:spLocks xmlns:a="http://schemas.openxmlformats.org/drawingml/2006/main" noGrp="1"/>
          </p:cNvSpPr>
          <p:nvPr/>
        </p:nvSpPr>
        <p:spPr>
          <a:xfrm xmlns:a="http://schemas.openxmlformats.org/drawingml/2006/main">
            <a:off x="685800" y="16954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Decision Layer</a:t>
            </a:r>
          </a:p>
        </p:txBody>
      </p:sp>
      <p:sp>
        <p:nvSpPr>
          <p:cNvPr id="2" name="">
            <a:extLst xmlns:a="http://schemas.openxmlformats.org/drawingml/2006/main">
              <a:ext uri="{FF2B5EF4-FFF2-40B4-BE49-F238E27FC236}">
                <a16:creationId xmlns:a16="http://schemas.microsoft.com/office/drawing/2014/main" id="{5AFC999D-EB78-48BE-AF98-C2D89D8D6985}"/>
              </a:ext>
            </a:extLst>
          </p:cNvPr>
          <p:cNvSpPr>
            <a:spLocks xmlns:a="http://schemas.openxmlformats.org/drawingml/2006/main" noGrp="1"/>
          </p:cNvSpPr>
          <p:nvPr/>
        </p:nvSpPr>
        <p:spPr>
          <a:xfrm xmlns:a="http://schemas.openxmlformats.org/drawingml/2006/main">
            <a:off x="685800" y="2619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Dashboard</a:t>
            </a:r>
          </a:p>
        </p:txBody>
      </p:sp>
      <p:sp>
        <p:nvSpPr>
          <p:cNvPr id="3" name="">
            <a:extLst xmlns:a="http://schemas.openxmlformats.org/drawingml/2006/main">
              <a:ext uri="{FF2B5EF4-FFF2-40B4-BE49-F238E27FC236}">
                <a16:creationId xmlns:a16="http://schemas.microsoft.com/office/drawing/2014/main" id="{19A290E7-1B70-492B-AC7D-4895271150F2}"/>
              </a:ext>
            </a:extLst>
          </p:cNvPr>
          <p:cNvSpPr>
            <a:spLocks xmlns:a="http://schemas.openxmlformats.org/drawingml/2006/main" noGrp="1"/>
          </p:cNvSpPr>
          <p:nvPr/>
        </p:nvSpPr>
        <p:spPr>
          <a:xfrm xmlns:a="http://schemas.openxmlformats.org/drawingml/2006/main">
            <a:off x="723900" y="4019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84E2C8"/>
                </a:solidFill>
                <a:latin typeface="Arial"/>
                <a:ea typeface="Arial"/>
                <a:cs typeface="Arial"/>
              </a:defRPr>
            </a:pPr>
            <a:r>
              <a:rPr sz="2550" b="0">
                <a:solidFill>
                  <a:srgbClr val="84E2C8"/>
                </a:solidFill>
                <a:latin typeface="Arial"/>
                <a:ea typeface="Arial"/>
                <a:cs typeface="Arial"/>
              </a:rPr>
              <a:t>Investment decisions with human oversight</a:t>
            </a:r>
          </a:p>
        </p:txBody>
      </p:sp>
      <p:sp>
        <p:nvSpPr>
          <p:cNvPr id="4" name="">
            <a:extLst xmlns:a="http://schemas.openxmlformats.org/drawingml/2006/main">
              <a:ext uri="{FF2B5EF4-FFF2-40B4-BE49-F238E27FC236}">
                <a16:creationId xmlns:a16="http://schemas.microsoft.com/office/drawing/2014/main" id="{CDC061C5-7862-404E-B4C1-7F396046AF79}"/>
              </a:ext>
            </a:extLst>
          </p:cNvPr>
          <p:cNvSpPr>
            <a:spLocks xmlns:a="http://schemas.openxmlformats.org/drawingml/2006/main" noGrp="1"/>
          </p:cNvSpPr>
          <p:nvPr/>
        </p:nvSpPr>
        <p:spPr>
          <a:xfrm xmlns:a="http://schemas.openxmlformats.org/drawingml/2006/main">
            <a:off x="723900" y="56102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Project presentation</a:t>
            </a:r>
          </a:p>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27 September 2026</a:t>
            </a:r>
          </a:p>
        </p:txBody>
      </p:sp>
    </p:spTree>
    <p:extLst>
      <p:ext uri="{BB962C8B-B14F-4D97-AF65-F5344CB8AC3E}">
        <p14:creationId xmlns:p14="http://schemas.microsoft.com/office/powerpoint/2010/main" val="1233148217"/>
      </p:ext>
    </p:extLst>
  </p:cSld>
</p:sld>
</file>

<file path=ppt/slides/slide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5B9837-A651-4C15-AD6F-FB253F9ADD91}"/>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investment review problem</a:t>
            </a:r>
          </a:p>
        </p:txBody>
      </p:sp>
      <p:sp>
        <p:nvSpPr>
          <p:cNvPr id="2" name="">
            <a:extLst xmlns:a="http://schemas.openxmlformats.org/drawingml/2006/main">
              <a:ext uri="{FF2B5EF4-FFF2-40B4-BE49-F238E27FC236}">
                <a16:creationId xmlns:a16="http://schemas.microsoft.com/office/drawing/2014/main" id="{B6A11063-BA5C-4978-8229-91B6F24F5292}"/>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C9AEDF08-2BBA-4048-A28E-B4B3E93E2244}"/>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DEC8DD7-EB8C-4A47-A8D1-2589AD186561}"/>
              </a:ext>
            </a:extLst>
          </p:cNvPr>
          <p:cNvSpPr>
            <a:spLocks xmlns:a="http://schemas.openxmlformats.org/drawingml/2006/main" noGrp="1"/>
          </p:cNvSpPr>
          <p:nvPr/>
        </p:nvSpPr>
        <p:spPr>
          <a:xfrm xmlns:a="http://schemas.openxmlformats.org/drawingml/2006/main">
            <a:off x="685800" y="2009775"/>
            <a:ext cx="5619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A reviewer must connect</a:t>
            </a:r>
          </a:p>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scattered information</a:t>
            </a:r>
          </a:p>
        </p:txBody>
      </p:sp>
      <p:sp>
        <p:nvSpPr>
          <p:cNvPr id="5" name="">
            <a:extLst xmlns:a="http://schemas.openxmlformats.org/drawingml/2006/main">
              <a:ext uri="{FF2B5EF4-FFF2-40B4-BE49-F238E27FC236}">
                <a16:creationId xmlns:a16="http://schemas.microsoft.com/office/drawing/2014/main" id="{0C75EC4E-5FB4-4DAF-A619-0FD2F5808C82}"/>
              </a:ext>
            </a:extLst>
          </p:cNvPr>
          <p:cNvSpPr>
            <a:spLocks xmlns:a="http://schemas.openxmlformats.org/drawingml/2006/main" noGrp="1"/>
          </p:cNvSpPr>
          <p:nvPr/>
        </p:nvSpPr>
        <p:spPr>
          <a:xfrm xmlns:a="http://schemas.openxmlformats.org/drawingml/2006/main">
            <a:off x="685800" y="44767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Intended users</a:t>
            </a:r>
          </a:p>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Portfolio analysts and investment reviewers</a:t>
            </a:r>
          </a:p>
        </p:txBody>
      </p:sp>
      <p:sp>
        <p:nvSpPr>
          <p:cNvPr id="6" name="">
            <a:extLst xmlns:a="http://schemas.openxmlformats.org/drawingml/2006/main">
              <a:ext uri="{FF2B5EF4-FFF2-40B4-BE49-F238E27FC236}">
                <a16:creationId xmlns:a16="http://schemas.microsoft.com/office/drawing/2014/main" id="{D1AD9BD7-2AF0-4D67-942C-14BB2B67FED1}"/>
              </a:ext>
            </a:extLst>
          </p:cNvPr>
          <p:cNvSpPr>
            <a:spLocks xmlns:a="http://schemas.openxmlformats.org/drawingml/2006/main" noGrp="1"/>
          </p:cNvSpPr>
          <p:nvPr/>
        </p:nvSpPr>
        <p:spPr>
          <a:xfrm xmlns:a="http://schemas.openxmlformats.org/drawingml/2006/main">
            <a:off x="6896100" y="198120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Portfolio context</a:t>
            </a:r>
          </a:p>
        </p:txBody>
      </p:sp>
      <p:sp>
        <p:nvSpPr>
          <p:cNvPr id="7" name="">
            <a:extLst xmlns:a="http://schemas.openxmlformats.org/drawingml/2006/main">
              <a:ext uri="{FF2B5EF4-FFF2-40B4-BE49-F238E27FC236}">
                <a16:creationId xmlns:a16="http://schemas.microsoft.com/office/drawing/2014/main" id="{95DCFEA5-EE65-4931-9AE1-890FBE4373EF}"/>
              </a:ext>
            </a:extLst>
          </p:cNvPr>
          <p:cNvSpPr>
            <a:spLocks xmlns:a="http://schemas.openxmlformats.org/drawingml/2006/main" noGrp="1"/>
          </p:cNvSpPr>
          <p:nvPr/>
        </p:nvSpPr>
        <p:spPr>
          <a:xfrm xmlns:a="http://schemas.openxmlformats.org/drawingml/2006/main">
            <a:off x="6896100" y="242887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Which holdings carry the exposure?</a:t>
            </a:r>
          </a:p>
        </p:txBody>
      </p:sp>
      <p:sp>
        <p:nvSpPr>
          <p:cNvPr id="8" name="">
            <a:extLst xmlns:a="http://schemas.openxmlformats.org/drawingml/2006/main">
              <a:ext uri="{FF2B5EF4-FFF2-40B4-BE49-F238E27FC236}">
                <a16:creationId xmlns:a16="http://schemas.microsoft.com/office/drawing/2014/main" id="{50609CCA-01F1-4908-979B-CD1A4A5F03B7}"/>
              </a:ext>
            </a:extLst>
          </p:cNvPr>
          <p:cNvSpPr>
            <a:spLocks xmlns:a="http://schemas.openxmlformats.org/drawingml/2006/main" noGrp="1"/>
          </p:cNvSpPr>
          <p:nvPr/>
        </p:nvSpPr>
        <p:spPr>
          <a:xfrm xmlns:a="http://schemas.openxmlformats.org/drawingml/2006/main">
            <a:off x="6896100" y="3248025"/>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Changing assumptions</a:t>
            </a:r>
          </a:p>
        </p:txBody>
      </p:sp>
      <p:sp>
        <p:nvSpPr>
          <p:cNvPr id="9" name="">
            <a:extLst xmlns:a="http://schemas.openxmlformats.org/drawingml/2006/main">
              <a:ext uri="{FF2B5EF4-FFF2-40B4-BE49-F238E27FC236}">
                <a16:creationId xmlns:a16="http://schemas.microsoft.com/office/drawing/2014/main" id="{32D3CFE8-2357-4CFD-B8A8-D46C85D39E3D}"/>
              </a:ext>
            </a:extLst>
          </p:cNvPr>
          <p:cNvSpPr>
            <a:spLocks xmlns:a="http://schemas.openxmlformats.org/drawingml/2006/main" noGrp="1"/>
          </p:cNvSpPr>
          <p:nvPr/>
        </p:nvSpPr>
        <p:spPr>
          <a:xfrm xmlns:a="http://schemas.openxmlformats.org/drawingml/2006/main">
            <a:off x="6896100" y="3695700"/>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How would a macro shock change the outlook?</a:t>
            </a:r>
          </a:p>
        </p:txBody>
      </p:sp>
      <p:sp>
        <p:nvSpPr>
          <p:cNvPr id="10" name="">
            <a:extLst xmlns:a="http://schemas.openxmlformats.org/drawingml/2006/main">
              <a:ext uri="{FF2B5EF4-FFF2-40B4-BE49-F238E27FC236}">
                <a16:creationId xmlns:a16="http://schemas.microsoft.com/office/drawing/2014/main" id="{69F606B1-84F2-4B8A-B007-A20E8B2B4805}"/>
              </a:ext>
            </a:extLst>
          </p:cNvPr>
          <p:cNvSpPr>
            <a:spLocks xmlns:a="http://schemas.openxmlformats.org/drawingml/2006/main" noGrp="1"/>
          </p:cNvSpPr>
          <p:nvPr/>
        </p:nvSpPr>
        <p:spPr>
          <a:xfrm xmlns:a="http://schemas.openxmlformats.org/drawingml/2006/main">
            <a:off x="6896100" y="451485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Decision ownership</a:t>
            </a:r>
          </a:p>
        </p:txBody>
      </p:sp>
      <p:sp>
        <p:nvSpPr>
          <p:cNvPr id="11" name="">
            <a:extLst xmlns:a="http://schemas.openxmlformats.org/drawingml/2006/main">
              <a:ext uri="{FF2B5EF4-FFF2-40B4-BE49-F238E27FC236}">
                <a16:creationId xmlns:a16="http://schemas.microsoft.com/office/drawing/2014/main" id="{83C27251-62D7-4179-B6E4-D9D3A17039C3}"/>
              </a:ext>
            </a:extLst>
          </p:cNvPr>
          <p:cNvSpPr>
            <a:spLocks xmlns:a="http://schemas.openxmlformats.org/drawingml/2006/main" noGrp="1"/>
          </p:cNvSpPr>
          <p:nvPr/>
        </p:nvSpPr>
        <p:spPr>
          <a:xfrm xmlns:a="http://schemas.openxmlformats.org/drawingml/2006/main">
            <a:off x="6896100" y="496252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What evidence supports approval?</a:t>
            </a:r>
          </a:p>
        </p:txBody>
      </p:sp>
    </p:spTree>
    <p:extLst>
      <p:ext uri="{BB962C8B-B14F-4D97-AF65-F5344CB8AC3E}">
        <p14:creationId xmlns:p14="http://schemas.microsoft.com/office/powerpoint/2010/main" val="1401798107"/>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D70CE8-58A8-451B-ADB3-BB6F26052A55}"/>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prototype workflow</a:t>
            </a:r>
          </a:p>
        </p:txBody>
      </p:sp>
      <p:sp>
        <p:nvSpPr>
          <p:cNvPr id="2" name="">
            <a:extLst xmlns:a="http://schemas.openxmlformats.org/drawingml/2006/main">
              <a:ext uri="{FF2B5EF4-FFF2-40B4-BE49-F238E27FC236}">
                <a16:creationId xmlns:a16="http://schemas.microsoft.com/office/drawing/2014/main" id="{44EBFA08-6F50-4B53-B766-4982242FAAD6}"/>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D097A22A-924F-42B9-99F7-8306B31007A3}"/>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D7DABBF-AD8B-435B-9C9E-6F8808C14F63}"/>
              </a:ext>
            </a:extLst>
          </p:cNvPr>
          <p:cNvSpPr>
            <a:spLocks xmlns:a="http://schemas.openxmlformats.org/drawingml/2006/main" noGrp="1"/>
          </p:cNvSpPr>
          <p:nvPr/>
        </p:nvSpPr>
        <p:spPr>
          <a:xfrm xmlns:a="http://schemas.openxmlformats.org/drawingml/2006/main">
            <a:off x="685800" y="17907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594C215-48E1-4A60-B51B-BF4B921F455F}"/>
              </a:ext>
            </a:extLst>
          </p:cNvPr>
          <p:cNvSpPr>
            <a:spLocks xmlns:a="http://schemas.openxmlformats.org/drawingml/2006/main" noGrp="1"/>
          </p:cNvSpPr>
          <p:nvPr/>
        </p:nvSpPr>
        <p:spPr>
          <a:xfrm xmlns:a="http://schemas.openxmlformats.org/drawingml/2006/main">
            <a:off x="1704975" y="18097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Manage a portfolio</a:t>
            </a:r>
          </a:p>
        </p:txBody>
      </p:sp>
      <p:sp>
        <p:nvSpPr>
          <p:cNvPr id="6" name="">
            <a:extLst xmlns:a="http://schemas.openxmlformats.org/drawingml/2006/main">
              <a:ext uri="{FF2B5EF4-FFF2-40B4-BE49-F238E27FC236}">
                <a16:creationId xmlns:a16="http://schemas.microsoft.com/office/drawing/2014/main" id="{036F8049-285D-44F0-B6D5-E9218CFBEC2D}"/>
              </a:ext>
            </a:extLst>
          </p:cNvPr>
          <p:cNvSpPr>
            <a:spLocks xmlns:a="http://schemas.openxmlformats.org/drawingml/2006/main" noGrp="1"/>
          </p:cNvSpPr>
          <p:nvPr/>
        </p:nvSpPr>
        <p:spPr>
          <a:xfrm xmlns:a="http://schemas.openxmlformats.org/drawingml/2006/main">
            <a:off x="6191250" y="18097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Edit holdings or import a validated CSV.</a:t>
            </a:r>
          </a:p>
        </p:txBody>
      </p:sp>
      <p:sp>
        <p:nvSpPr>
          <p:cNvPr id="7" name="">
            <a:extLst xmlns:a="http://schemas.openxmlformats.org/drawingml/2006/main">
              <a:ext uri="{FF2B5EF4-FFF2-40B4-BE49-F238E27FC236}">
                <a16:creationId xmlns:a16="http://schemas.microsoft.com/office/drawing/2014/main" id="{08EF0187-4AC9-4F95-AED2-0739C5AE867C}"/>
              </a:ext>
            </a:extLst>
          </p:cNvPr>
          <p:cNvSpPr>
            <a:spLocks xmlns:a="http://schemas.openxmlformats.org/drawingml/2006/main" noGrp="1"/>
          </p:cNvSpPr>
          <p:nvPr/>
        </p:nvSpPr>
        <p:spPr>
          <a:xfrm xmlns:a="http://schemas.openxmlformats.org/drawingml/2006/main">
            <a:off x="685800" y="28003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F1FC4FF-1FAD-4359-A9F8-B39D20344C40}"/>
              </a:ext>
            </a:extLst>
          </p:cNvPr>
          <p:cNvSpPr>
            <a:spLocks xmlns:a="http://schemas.openxmlformats.org/drawingml/2006/main" noGrp="1"/>
          </p:cNvSpPr>
          <p:nvPr/>
        </p:nvSpPr>
        <p:spPr>
          <a:xfrm xmlns:a="http://schemas.openxmlformats.org/drawingml/2006/main">
            <a:off x="1704975" y="28194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Explore a scenario</a:t>
            </a:r>
          </a:p>
        </p:txBody>
      </p:sp>
      <p:sp>
        <p:nvSpPr>
          <p:cNvPr id="9" name="">
            <a:extLst xmlns:a="http://schemas.openxmlformats.org/drawingml/2006/main">
              <a:ext uri="{FF2B5EF4-FFF2-40B4-BE49-F238E27FC236}">
                <a16:creationId xmlns:a16="http://schemas.microsoft.com/office/drawing/2014/main" id="{A0630622-8477-4376-8CD0-E66628113ABC}"/>
              </a:ext>
            </a:extLst>
          </p:cNvPr>
          <p:cNvSpPr>
            <a:spLocks xmlns:a="http://schemas.openxmlformats.org/drawingml/2006/main" noGrp="1"/>
          </p:cNvSpPr>
          <p:nvPr/>
        </p:nvSpPr>
        <p:spPr>
          <a:xfrm xmlns:a="http://schemas.openxmlformats.org/drawingml/2006/main">
            <a:off x="6191250" y="28194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Change oil, FX, interest-rate and inflation assumptions.</a:t>
            </a:r>
          </a:p>
        </p:txBody>
      </p:sp>
      <p:sp>
        <p:nvSpPr>
          <p:cNvPr id="10" name="">
            <a:extLst xmlns:a="http://schemas.openxmlformats.org/drawingml/2006/main">
              <a:ext uri="{FF2B5EF4-FFF2-40B4-BE49-F238E27FC236}">
                <a16:creationId xmlns:a16="http://schemas.microsoft.com/office/drawing/2014/main" id="{B4018026-D037-4833-A1DC-CC0FADB36772}"/>
              </a:ext>
            </a:extLst>
          </p:cNvPr>
          <p:cNvSpPr>
            <a:spLocks xmlns:a="http://schemas.openxmlformats.org/drawingml/2006/main" noGrp="1"/>
          </p:cNvSpPr>
          <p:nvPr/>
        </p:nvSpPr>
        <p:spPr>
          <a:xfrm xmlns:a="http://schemas.openxmlformats.org/drawingml/2006/main">
            <a:off x="685800" y="3810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B444979-4B40-4C7A-AE40-761380D52458}"/>
              </a:ext>
            </a:extLst>
          </p:cNvPr>
          <p:cNvSpPr>
            <a:spLocks xmlns:a="http://schemas.openxmlformats.org/drawingml/2006/main" noGrp="1"/>
          </p:cNvSpPr>
          <p:nvPr/>
        </p:nvSpPr>
        <p:spPr>
          <a:xfrm xmlns:a="http://schemas.openxmlformats.org/drawingml/2006/main">
            <a:off x="1704975" y="38290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Review a recommendation</a:t>
            </a:r>
          </a:p>
        </p:txBody>
      </p:sp>
      <p:sp>
        <p:nvSpPr>
          <p:cNvPr id="12" name="">
            <a:extLst xmlns:a="http://schemas.openxmlformats.org/drawingml/2006/main">
              <a:ext uri="{FF2B5EF4-FFF2-40B4-BE49-F238E27FC236}">
                <a16:creationId xmlns:a16="http://schemas.microsoft.com/office/drawing/2014/main" id="{A958367F-93CB-4EA0-A58C-B41DFAEF9DCB}"/>
              </a:ext>
            </a:extLst>
          </p:cNvPr>
          <p:cNvSpPr>
            <a:spLocks xmlns:a="http://schemas.openxmlformats.org/drawingml/2006/main" noGrp="1"/>
          </p:cNvSpPr>
          <p:nvPr/>
        </p:nvSpPr>
        <p:spPr>
          <a:xfrm xmlns:a="http://schemas.openxmlformats.org/drawingml/2006/main">
            <a:off x="6191250" y="38290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Inspect rationale, confidence, risk and ESG context.</a:t>
            </a:r>
          </a:p>
        </p:txBody>
      </p:sp>
      <p:sp>
        <p:nvSpPr>
          <p:cNvPr id="13" name="">
            <a:extLst xmlns:a="http://schemas.openxmlformats.org/drawingml/2006/main">
              <a:ext uri="{FF2B5EF4-FFF2-40B4-BE49-F238E27FC236}">
                <a16:creationId xmlns:a16="http://schemas.microsoft.com/office/drawing/2014/main" id="{55A0AC86-15D5-4D37-A2B7-3537AF53A4D4}"/>
              </a:ext>
            </a:extLst>
          </p:cNvPr>
          <p:cNvSpPr>
            <a:spLocks xmlns:a="http://schemas.openxmlformats.org/drawingml/2006/main" noGrp="1"/>
          </p:cNvSpPr>
          <p:nvPr/>
        </p:nvSpPr>
        <p:spPr>
          <a:xfrm xmlns:a="http://schemas.openxmlformats.org/drawingml/2006/main">
            <a:off x="685800" y="48196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B5AA662-5859-4138-9CC7-0DFDC1257667}"/>
              </a:ext>
            </a:extLst>
          </p:cNvPr>
          <p:cNvSpPr>
            <a:spLocks xmlns:a="http://schemas.openxmlformats.org/drawingml/2006/main" noGrp="1"/>
          </p:cNvSpPr>
          <p:nvPr/>
        </p:nvSpPr>
        <p:spPr>
          <a:xfrm xmlns:a="http://schemas.openxmlformats.org/drawingml/2006/main">
            <a:off x="1704975" y="48387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Record a decision</a:t>
            </a:r>
          </a:p>
        </p:txBody>
      </p:sp>
      <p:sp>
        <p:nvSpPr>
          <p:cNvPr id="15" name="">
            <a:extLst xmlns:a="http://schemas.openxmlformats.org/drawingml/2006/main">
              <a:ext uri="{FF2B5EF4-FFF2-40B4-BE49-F238E27FC236}">
                <a16:creationId xmlns:a16="http://schemas.microsoft.com/office/drawing/2014/main" id="{F55B939F-604E-495F-8D3F-7B4565BCE716}"/>
              </a:ext>
            </a:extLst>
          </p:cNvPr>
          <p:cNvSpPr>
            <a:spLocks xmlns:a="http://schemas.openxmlformats.org/drawingml/2006/main" noGrp="1"/>
          </p:cNvSpPr>
          <p:nvPr/>
        </p:nvSpPr>
        <p:spPr>
          <a:xfrm xmlns:a="http://schemas.openxmlformats.org/drawingml/2006/main">
            <a:off x="6191250" y="48387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Approve or reject and inspect workflow history.</a:t>
            </a:r>
          </a:p>
        </p:txBody>
      </p:sp>
    </p:spTree>
    <p:extLst>
      <p:ext uri="{BB962C8B-B14F-4D97-AF65-F5344CB8AC3E}">
        <p14:creationId xmlns:p14="http://schemas.microsoft.com/office/powerpoint/2010/main" val="616986493"/>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2F7942-3803-4825-8ED6-C7A0294CFAC7}"/>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 synthetic portfolio for the demonstration</a:t>
            </a:r>
          </a:p>
        </p:txBody>
      </p:sp>
      <p:sp>
        <p:nvSpPr>
          <p:cNvPr id="2" name="">
            <a:extLst xmlns:a="http://schemas.openxmlformats.org/drawingml/2006/main">
              <a:ext uri="{FF2B5EF4-FFF2-40B4-BE49-F238E27FC236}">
                <a16:creationId xmlns:a16="http://schemas.microsoft.com/office/drawing/2014/main" id="{135338AB-EDFC-4E3D-9D08-C1CF27EE00D5}"/>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8CF6A2EE-C013-49DE-92B7-075B5D046933}"/>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0EBAB7D-3E77-4570-9820-900820ECE507}"/>
              </a:ext>
            </a:extLst>
          </p:cNvPr>
          <p:cNvSpPr>
            <a:spLocks xmlns:a="http://schemas.openxmlformats.org/drawingml/2006/main" noGrp="1"/>
          </p:cNvSpPr>
          <p:nvPr/>
        </p:nvSpPr>
        <p:spPr>
          <a:xfrm xmlns:a="http://schemas.openxmlformats.org/drawingml/2006/main">
            <a:off x="695325" y="2114550"/>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78"/>
                </a:solidFill>
                <a:latin typeface="Arial"/>
                <a:ea typeface="Arial"/>
                <a:cs typeface="Arial"/>
              </a:defRPr>
            </a:pPr>
            <a:r>
              <a:rPr sz="5700" b="1">
                <a:solidFill>
                  <a:srgbClr val="007F78"/>
                </a:solidFill>
                <a:latin typeface="Arial"/>
                <a:ea typeface="Arial"/>
                <a:cs typeface="Arial"/>
              </a:rPr>
              <a:t>$15.3B</a:t>
            </a:r>
          </a:p>
        </p:txBody>
      </p:sp>
      <p:sp>
        <p:nvSpPr>
          <p:cNvPr id="5" name="">
            <a:extLst xmlns:a="http://schemas.openxmlformats.org/drawingml/2006/main">
              <a:ext uri="{FF2B5EF4-FFF2-40B4-BE49-F238E27FC236}">
                <a16:creationId xmlns:a16="http://schemas.microsoft.com/office/drawing/2014/main" id="{4A83DE7C-D337-46DA-A53E-1617666E4671}"/>
              </a:ext>
            </a:extLst>
          </p:cNvPr>
          <p:cNvSpPr>
            <a:spLocks xmlns:a="http://schemas.openxmlformats.org/drawingml/2006/main" noGrp="1"/>
          </p:cNvSpPr>
          <p:nvPr/>
        </p:nvSpPr>
        <p:spPr>
          <a:xfrm xmlns:a="http://schemas.openxmlformats.org/drawingml/2006/main">
            <a:off x="742950" y="3343275"/>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18 illustrative holdings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9 investment sectors</a:t>
            </a:r>
          </a:p>
        </p:txBody>
      </p:sp>
      <p:sp>
        <p:nvSpPr>
          <p:cNvPr id="6" name="">
            <a:extLst xmlns:a="http://schemas.openxmlformats.org/drawingml/2006/main">
              <a:ext uri="{FF2B5EF4-FFF2-40B4-BE49-F238E27FC236}">
                <a16:creationId xmlns:a16="http://schemas.microsoft.com/office/drawing/2014/main" id="{9C0A71CE-E036-43BC-96AE-31791CC1EB35}"/>
              </a:ext>
            </a:extLst>
          </p:cNvPr>
          <p:cNvSpPr>
            <a:spLocks xmlns:a="http://schemas.openxmlformats.org/drawingml/2006/main" noGrp="1"/>
          </p:cNvSpPr>
          <p:nvPr/>
        </p:nvSpPr>
        <p:spPr>
          <a:xfrm xmlns:a="http://schemas.openxmlformats.org/drawingml/2006/main">
            <a:off x="742950" y="5000625"/>
            <a:ext cx="3810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Synthetic fixture values</a:t>
            </a:r>
          </a:p>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No client holdings or verified returns</a:t>
            </a:r>
          </a:p>
        </p:txBody>
      </p:sp>
      <p:sp>
        <p:nvSpPr>
          <p:cNvPr id="7" name="">
            <a:extLst xmlns:a="http://schemas.openxmlformats.org/drawingml/2006/main">
              <a:ext uri="{FF2B5EF4-FFF2-40B4-BE49-F238E27FC236}">
                <a16:creationId xmlns:a16="http://schemas.microsoft.com/office/drawing/2014/main" id="{2D359C7D-9170-4B24-A43F-1139D2F5D007}"/>
              </a:ext>
            </a:extLst>
          </p:cNvPr>
          <p:cNvSpPr>
            <a:spLocks xmlns:a="http://schemas.openxmlformats.org/drawingml/2006/main" noGrp="1"/>
          </p:cNvSpPr>
          <p:nvPr/>
        </p:nvSpPr>
        <p:spPr>
          <a:xfrm xmlns:a="http://schemas.openxmlformats.org/drawingml/2006/main">
            <a:off x="4838700" y="1485900"/>
            <a:ext cx="6438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70"/>
                </a:solidFill>
                <a:latin typeface="Arial"/>
                <a:ea typeface="Arial"/>
                <a:cs typeface="Arial"/>
              </a:defRPr>
            </a:pPr>
            <a:r>
              <a:rPr sz="1725" b="0">
                <a:solidFill>
                  <a:srgbClr val="536A70"/>
                </a:solidFill>
                <a:latin typeface="Arial"/>
                <a:ea typeface="Arial"/>
                <a:cs typeface="Arial"/>
              </a:rPr>
              <a:t>AUM by sector (USD billions)</a:t>
            </a:r>
          </a:p>
        </p:txBody>
      </p:sp>
      <p:graphicFrame>
        <p:nvGraphicFramePr>
          <p:cNvPr id="16" name="Chart"/>
          <p:cNvGraphicFramePr/>
          <p:nvPr/>
        </p:nvGraphicFramePr>
        <p:xfrm>
          <a:off xmlns:a="http://schemas.openxmlformats.org/drawingml/2006/main" x="4591050" y="1771650"/>
          <a:ext xmlns:a="http://schemas.openxmlformats.org/drawingml/2006/main" cx="6819900" cy="4162425"/>
        </p:xfrm>
        <a:graphic xmlns:a="http://schemas.openxmlformats.org/drawingml/2006/main">
          <a:graphicData uri="http://schemas.openxmlformats.org/drawingml/2006/chart">
            <c:chart xmlns:r="http://schemas.openxmlformats.org/officeDocument/2006/relationships" xmlns:c="http://schemas.openxmlformats.org/drawingml/2006/chart" r:id="Ra6d4e90fb30f48bf"/>
          </a:graphicData>
        </a:graphic>
      </p:graphicFrame>
    </p:spTree>
    <p:extLst>
      <p:ext uri="{BB962C8B-B14F-4D97-AF65-F5344CB8AC3E}">
        <p14:creationId xmlns:p14="http://schemas.microsoft.com/office/powerpoint/2010/main" val="813775503"/>
      </p:ext>
    </p:extLst>
  </p:cSld>
</p:sld>
</file>

<file path=ppt/slides/slide5.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5FC9B3B-156F-4798-B873-232BEDD051EB}"/>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Portfolio Sentinel keeps a reviewer in control</a:t>
            </a:r>
          </a:p>
        </p:txBody>
      </p:sp>
      <p:sp>
        <p:nvSpPr>
          <p:cNvPr id="2" name="">
            <a:extLst xmlns:a="http://schemas.openxmlformats.org/drawingml/2006/main">
              <a:ext uri="{FF2B5EF4-FFF2-40B4-BE49-F238E27FC236}">
                <a16:creationId xmlns:a16="http://schemas.microsoft.com/office/drawing/2014/main" id="{80B0062F-6C91-47BB-B253-B9637F49048A}"/>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681239B9-3686-4D2D-A4C0-66634BA6AE66}"/>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887E08B6-B003-43BA-BD5E-BC52677A9F9C}"/>
              </a:ext>
            </a:extLst>
          </p:cNvPr>
          <p:cNvSpPr>
            <a:spLocks xmlns:a="http://schemas.openxmlformats.org/drawingml/2006/main" noGrp="1"/>
          </p:cNvSpPr>
          <p:nvPr/>
        </p:nvSpPr>
        <p:spPr>
          <a:xfrm xmlns:a="http://schemas.openxmlformats.org/drawingml/2006/main">
            <a:off x="685800" y="18478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84E2C8"/>
                </a:solidFill>
                <a:latin typeface="Arial"/>
                <a:ea typeface="Arial"/>
                <a:cs typeface="Arial"/>
              </a:defRPr>
            </a:pPr>
            <a:r>
              <a:rPr sz="3675" b="1">
                <a:solidFill>
                  <a:srgbClr val="84E2C8"/>
                </a:solidFill>
                <a:latin typeface="Arial"/>
                <a:ea typeface="Arial"/>
                <a:cs typeface="Arial"/>
              </a:rPr>
              <a:t>BUY   SELL   HOLD</a:t>
            </a:r>
          </a:p>
        </p:txBody>
      </p:sp>
      <p:sp>
        <p:nvSpPr>
          <p:cNvPr id="5" name="">
            <a:extLst xmlns:a="http://schemas.openxmlformats.org/drawingml/2006/main">
              <a:ext uri="{FF2B5EF4-FFF2-40B4-BE49-F238E27FC236}">
                <a16:creationId xmlns:a16="http://schemas.microsoft.com/office/drawing/2014/main" id="{7F0E3F59-DBF6-403E-81AA-8A4F25B2A252}"/>
              </a:ext>
            </a:extLst>
          </p:cNvPr>
          <p:cNvSpPr>
            <a:spLocks xmlns:a="http://schemas.openxmlformats.org/drawingml/2006/main" noGrp="1"/>
          </p:cNvSpPr>
          <p:nvPr/>
        </p:nvSpPr>
        <p:spPr>
          <a:xfrm xmlns:a="http://schemas.openxmlformats.org/drawingml/2006/main">
            <a:off x="704850" y="2686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Each proposal includes a rationale, confidence and a catalyst.</a:t>
            </a:r>
          </a:p>
        </p:txBody>
      </p:sp>
      <p:sp>
        <p:nvSpPr>
          <p:cNvPr id="6" name="">
            <a:extLst xmlns:a="http://schemas.openxmlformats.org/drawingml/2006/main">
              <a:ext uri="{FF2B5EF4-FFF2-40B4-BE49-F238E27FC236}">
                <a16:creationId xmlns:a16="http://schemas.microsoft.com/office/drawing/2014/main" id="{2AC1C675-2786-4801-AB4F-92CC86D8F856}"/>
              </a:ext>
            </a:extLst>
          </p:cNvPr>
          <p:cNvSpPr>
            <a:spLocks xmlns:a="http://schemas.openxmlformats.org/drawingml/2006/main" noGrp="1"/>
          </p:cNvSpPr>
          <p:nvPr/>
        </p:nvSpPr>
        <p:spPr>
          <a:xfrm xmlns:a="http://schemas.openxmlformats.org/drawingml/2006/main">
            <a:off x="704850" y="3705225"/>
            <a:ext cx="2733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84E2C8"/>
                </a:solidFill>
                <a:latin typeface="Arial"/>
                <a:ea typeface="Arial"/>
                <a:cs typeface="Arial"/>
              </a:defRPr>
            </a:pPr>
            <a:r>
              <a:rPr sz="5250" b="1">
                <a:solidFill>
                  <a:srgbClr val="84E2C8"/>
                </a:solidFill>
                <a:latin typeface="Arial"/>
                <a:ea typeface="Arial"/>
                <a:cs typeface="Arial"/>
              </a:rPr>
              <a:t>5 pp</a:t>
            </a:r>
          </a:p>
        </p:txBody>
      </p:sp>
      <p:sp>
        <p:nvSpPr>
          <p:cNvPr id="7" name="">
            <a:extLst xmlns:a="http://schemas.openxmlformats.org/drawingml/2006/main">
              <a:ext uri="{FF2B5EF4-FFF2-40B4-BE49-F238E27FC236}">
                <a16:creationId xmlns:a16="http://schemas.microsoft.com/office/drawing/2014/main" id="{9694C36C-37CF-43F0-9BA1-68A80E638315}"/>
              </a:ext>
            </a:extLst>
          </p:cNvPr>
          <p:cNvSpPr>
            <a:spLocks xmlns:a="http://schemas.openxmlformats.org/drawingml/2006/main" noGrp="1"/>
          </p:cNvSpPr>
          <p:nvPr/>
        </p:nvSpPr>
        <p:spPr>
          <a:xfrm xmlns:a="http://schemas.openxmlformats.org/drawingml/2006/main">
            <a:off x="742950" y="4657725"/>
            <a:ext cx="304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Maximum proposed change</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per holding before normalization</a:t>
            </a:r>
          </a:p>
        </p:txBody>
      </p:sp>
      <p:sp>
        <p:nvSpPr>
          <p:cNvPr id="8" name="">
            <a:extLst xmlns:a="http://schemas.openxmlformats.org/drawingml/2006/main">
              <a:ext uri="{FF2B5EF4-FFF2-40B4-BE49-F238E27FC236}">
                <a16:creationId xmlns:a16="http://schemas.microsoft.com/office/drawing/2014/main" id="{4052FCDB-61AA-48D2-8E54-85F06931565A}"/>
              </a:ext>
            </a:extLst>
          </p:cNvPr>
          <p:cNvSpPr>
            <a:spLocks xmlns:a="http://schemas.openxmlformats.org/drawingml/2006/main" noGrp="1"/>
          </p:cNvSpPr>
          <p:nvPr/>
        </p:nvSpPr>
        <p:spPr>
          <a:xfrm xmlns:a="http://schemas.openxmlformats.org/drawingml/2006/main">
            <a:off x="4429125" y="3705225"/>
            <a:ext cx="2876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84E2C8"/>
                </a:solidFill>
                <a:latin typeface="Arial"/>
                <a:ea typeface="Arial"/>
                <a:cs typeface="Arial"/>
              </a:defRPr>
            </a:pPr>
            <a:r>
              <a:rPr sz="4800" b="1">
                <a:solidFill>
                  <a:srgbClr val="84E2C8"/>
                </a:solidFill>
                <a:latin typeface="Arial"/>
                <a:ea typeface="Arial"/>
                <a:cs typeface="Arial"/>
              </a:rPr>
              <a:t>HOLD</a:t>
            </a:r>
          </a:p>
        </p:txBody>
      </p:sp>
      <p:sp>
        <p:nvSpPr>
          <p:cNvPr id="9" name="">
            <a:extLst xmlns:a="http://schemas.openxmlformats.org/drawingml/2006/main">
              <a:ext uri="{FF2B5EF4-FFF2-40B4-BE49-F238E27FC236}">
                <a16:creationId xmlns:a16="http://schemas.microsoft.com/office/drawing/2014/main" id="{30AD1389-E665-48B6-8D4B-1DB22C37C6F3}"/>
              </a:ext>
            </a:extLst>
          </p:cNvPr>
          <p:cNvSpPr>
            <a:spLocks xmlns:a="http://schemas.openxmlformats.org/drawingml/2006/main" noGrp="1"/>
          </p:cNvSpPr>
          <p:nvPr/>
        </p:nvSpPr>
        <p:spPr>
          <a:xfrm xmlns:a="http://schemas.openxmlformats.org/drawingml/2006/main">
            <a:off x="4467225" y="4657725"/>
            <a:ext cx="2895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Low confidence or</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retrieved headlines</a:t>
            </a:r>
          </a:p>
        </p:txBody>
      </p:sp>
      <p:sp>
        <p:nvSpPr>
          <p:cNvPr id="10" name="">
            <a:extLst xmlns:a="http://schemas.openxmlformats.org/drawingml/2006/main">
              <a:ext uri="{FF2B5EF4-FFF2-40B4-BE49-F238E27FC236}">
                <a16:creationId xmlns:a16="http://schemas.microsoft.com/office/drawing/2014/main" id="{AFD77C66-C95C-40C9-A017-9A47174AA833}"/>
              </a:ext>
            </a:extLst>
          </p:cNvPr>
          <p:cNvSpPr>
            <a:spLocks xmlns:a="http://schemas.openxmlformats.org/drawingml/2006/main" noGrp="1"/>
          </p:cNvSpPr>
          <p:nvPr/>
        </p:nvSpPr>
        <p:spPr>
          <a:xfrm xmlns:a="http://schemas.openxmlformats.org/drawingml/2006/main">
            <a:off x="8077200" y="381952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84E2C8"/>
                </a:solidFill>
                <a:latin typeface="Arial"/>
                <a:ea typeface="Arial"/>
                <a:cs typeface="Arial"/>
              </a:defRPr>
            </a:pPr>
            <a:r>
              <a:rPr sz="2850" b="1">
                <a:solidFill>
                  <a:srgbClr val="84E2C8"/>
                </a:solidFill>
                <a:latin typeface="Arial"/>
                <a:ea typeface="Arial"/>
                <a:cs typeface="Arial"/>
              </a:rPr>
              <a:t>Human review</a:t>
            </a:r>
          </a:p>
        </p:txBody>
      </p:sp>
      <p:sp>
        <p:nvSpPr>
          <p:cNvPr id="11" name="">
            <a:extLst xmlns:a="http://schemas.openxmlformats.org/drawingml/2006/main">
              <a:ext uri="{FF2B5EF4-FFF2-40B4-BE49-F238E27FC236}">
                <a16:creationId xmlns:a16="http://schemas.microsoft.com/office/drawing/2014/main" id="{409CFAB6-231D-4F8C-BE06-74863E1BFBBE}"/>
              </a:ext>
            </a:extLst>
          </p:cNvPr>
          <p:cNvSpPr>
            <a:spLocks xmlns:a="http://schemas.openxmlformats.org/drawingml/2006/main" noGrp="1"/>
          </p:cNvSpPr>
          <p:nvPr/>
        </p:nvSpPr>
        <p:spPr>
          <a:xfrm xmlns:a="http://schemas.openxmlformats.org/drawingml/2006/main">
            <a:off x="8105775" y="4657725"/>
            <a:ext cx="33147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Sign-off before simulation</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trade execution</a:t>
            </a:r>
          </a:p>
        </p:txBody>
      </p:sp>
      <p:sp>
        <p:nvSpPr>
          <p:cNvPr id="12" name="">
            <a:extLst xmlns:a="http://schemas.openxmlformats.org/drawingml/2006/main">
              <a:ext uri="{FF2B5EF4-FFF2-40B4-BE49-F238E27FC236}">
                <a16:creationId xmlns:a16="http://schemas.microsoft.com/office/drawing/2014/main" id="{DAD086B0-50CB-4CB3-B3EF-497074F8AD65}"/>
              </a:ext>
            </a:extLst>
          </p:cNvPr>
          <p:cNvSpPr>
            <a:spLocks xmlns:a="http://schemas.openxmlformats.org/drawingml/2006/main" noGrp="1"/>
          </p:cNvSpPr>
          <p:nvPr/>
        </p:nvSpPr>
        <p:spPr>
          <a:xfrm xmlns:a="http://schemas.openxmlformats.org/drawingml/2006/main">
            <a:off x="723900" y="5848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FCDCF"/>
                </a:solidFill>
                <a:latin typeface="Arial"/>
                <a:ea typeface="Arial"/>
                <a:cs typeface="Arial"/>
              </a:defRPr>
            </a:pPr>
            <a:r>
              <a:rPr sz="1500" b="0">
                <a:solidFill>
                  <a:srgbClr val="BFCDCF"/>
                </a:solidFill>
                <a:latin typeface="Arial"/>
                <a:ea typeface="Arial"/>
                <a:cs typeface="Arial"/>
              </a:rPr>
              <a:t>Current boundary: scans fetch external news. An offline synthetic scan is still pending.</a:t>
            </a:r>
          </a:p>
        </p:txBody>
      </p:sp>
    </p:spTree>
    <p:extLst>
      <p:ext uri="{BB962C8B-B14F-4D97-AF65-F5344CB8AC3E}">
        <p14:creationId xmlns:p14="http://schemas.microsoft.com/office/powerpoint/2010/main" val="1743962854"/>
      </p:ext>
    </p:extLst>
  </p:cSld>
</p:sld>
</file>

<file path=ppt/slides/slide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B49F35-954C-48F4-9B98-8BE944FBCEE9}"/>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3C05E30F-71EC-49AE-9181-310D1F73D8F6}"/>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7599594B-6972-46F0-B2CF-E145E72E6B4A}"/>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8CF3364F-19C5-4926-9363-7D69F171C5B9}"/>
              </a:ext>
            </a:extLst>
          </p:cNvPr>
          <p:cNvSpPr>
            <a:spLocks xmlns:a="http://schemas.openxmlformats.org/drawingml/2006/main" noGrp="1"/>
          </p:cNvSpPr>
          <p:nvPr/>
        </p:nvSpPr>
        <p:spPr>
          <a:xfrm xmlns:a="http://schemas.openxmlformats.org/drawingml/2006/main">
            <a:off x="685800" y="176212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Interface</a:t>
            </a:r>
          </a:p>
        </p:txBody>
      </p:sp>
      <p:sp>
        <p:nvSpPr>
          <p:cNvPr id="5" name="">
            <a:extLst xmlns:a="http://schemas.openxmlformats.org/drawingml/2006/main">
              <a:ext uri="{FF2B5EF4-FFF2-40B4-BE49-F238E27FC236}">
                <a16:creationId xmlns:a16="http://schemas.microsoft.com/office/drawing/2014/main" id="{E25CFCB8-F55F-42D3-B834-145D98C5CE9A}"/>
              </a:ext>
            </a:extLst>
          </p:cNvPr>
          <p:cNvSpPr>
            <a:spLocks xmlns:a="http://schemas.openxmlformats.org/drawingml/2006/main" noGrp="1"/>
          </p:cNvSpPr>
          <p:nvPr/>
        </p:nvSpPr>
        <p:spPr>
          <a:xfrm xmlns:a="http://schemas.openxmlformats.org/drawingml/2006/main">
            <a:off x="3438525" y="172402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Next.js 16 and React 19</a:t>
            </a:r>
          </a:p>
        </p:txBody>
      </p:sp>
      <p:sp>
        <p:nvSpPr>
          <p:cNvPr id="6" name="">
            <a:extLst xmlns:a="http://schemas.openxmlformats.org/drawingml/2006/main">
              <a:ext uri="{FF2B5EF4-FFF2-40B4-BE49-F238E27FC236}">
                <a16:creationId xmlns:a16="http://schemas.microsoft.com/office/drawing/2014/main" id="{C087B880-B299-460E-A772-190CD7F1D66D}"/>
              </a:ext>
            </a:extLst>
          </p:cNvPr>
          <p:cNvSpPr>
            <a:spLocks xmlns:a="http://schemas.openxmlformats.org/drawingml/2006/main" noGrp="1"/>
          </p:cNvSpPr>
          <p:nvPr/>
        </p:nvSpPr>
        <p:spPr>
          <a:xfrm xmlns:a="http://schemas.openxmlformats.org/drawingml/2006/main">
            <a:off x="3438525" y="218122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Pages and view-model hooks with shared Zustand state</a:t>
            </a:r>
          </a:p>
        </p:txBody>
      </p:sp>
      <p:sp>
        <p:nvSpPr>
          <p:cNvPr id="7" name="">
            <a:extLst xmlns:a="http://schemas.openxmlformats.org/drawingml/2006/main">
              <a:ext uri="{FF2B5EF4-FFF2-40B4-BE49-F238E27FC236}">
                <a16:creationId xmlns:a16="http://schemas.microsoft.com/office/drawing/2014/main" id="{AC3A05C3-6DEC-4155-9EFA-B2CA27750D59}"/>
              </a:ext>
            </a:extLst>
          </p:cNvPr>
          <p:cNvSpPr>
            <a:spLocks xmlns:a="http://schemas.openxmlformats.org/drawingml/2006/main" noGrp="1"/>
          </p:cNvSpPr>
          <p:nvPr/>
        </p:nvSpPr>
        <p:spPr>
          <a:xfrm xmlns:a="http://schemas.openxmlformats.org/drawingml/2006/main">
            <a:off x="685800" y="281940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Decision logic</a:t>
            </a:r>
          </a:p>
        </p:txBody>
      </p:sp>
      <p:sp>
        <p:nvSpPr>
          <p:cNvPr id="8" name="">
            <a:extLst xmlns:a="http://schemas.openxmlformats.org/drawingml/2006/main">
              <a:ext uri="{FF2B5EF4-FFF2-40B4-BE49-F238E27FC236}">
                <a16:creationId xmlns:a16="http://schemas.microsoft.com/office/drawing/2014/main" id="{D3ED8368-B74B-4E32-AF08-457ACE6D9101}"/>
              </a:ext>
            </a:extLst>
          </p:cNvPr>
          <p:cNvSpPr>
            <a:spLocks xmlns:a="http://schemas.openxmlformats.org/drawingml/2006/main" noGrp="1"/>
          </p:cNvSpPr>
          <p:nvPr/>
        </p:nvSpPr>
        <p:spPr>
          <a:xfrm xmlns:a="http://schemas.openxmlformats.org/drawingml/2006/main">
            <a:off x="3438525" y="27813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TypeScript domain modules</a:t>
            </a:r>
          </a:p>
        </p:txBody>
      </p:sp>
      <p:sp>
        <p:nvSpPr>
          <p:cNvPr id="9" name="">
            <a:extLst xmlns:a="http://schemas.openxmlformats.org/drawingml/2006/main">
              <a:ext uri="{FF2B5EF4-FFF2-40B4-BE49-F238E27FC236}">
                <a16:creationId xmlns:a16="http://schemas.microsoft.com/office/drawing/2014/main" id="{07B6DCBF-DB42-45A7-9727-32A7F7D3665E}"/>
              </a:ext>
            </a:extLst>
          </p:cNvPr>
          <p:cNvSpPr>
            <a:spLocks xmlns:a="http://schemas.openxmlformats.org/drawingml/2006/main" noGrp="1"/>
          </p:cNvSpPr>
          <p:nvPr/>
        </p:nvSpPr>
        <p:spPr>
          <a:xfrm xmlns:a="http://schemas.openxmlformats.org/drawingml/2006/main">
            <a:off x="3438525" y="32385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Scenario calculations, validation and Sentinel guardrails</a:t>
            </a:r>
          </a:p>
        </p:txBody>
      </p:sp>
      <p:sp>
        <p:nvSpPr>
          <p:cNvPr id="10" name="">
            <a:extLst xmlns:a="http://schemas.openxmlformats.org/drawingml/2006/main">
              <a:ext uri="{FF2B5EF4-FFF2-40B4-BE49-F238E27FC236}">
                <a16:creationId xmlns:a16="http://schemas.microsoft.com/office/drawing/2014/main" id="{D3532343-8D49-4796-8B30-1DF45B773B71}"/>
              </a:ext>
            </a:extLst>
          </p:cNvPr>
          <p:cNvSpPr>
            <a:spLocks xmlns:a="http://schemas.openxmlformats.org/drawingml/2006/main" noGrp="1"/>
          </p:cNvSpPr>
          <p:nvPr/>
        </p:nvSpPr>
        <p:spPr>
          <a:xfrm xmlns:a="http://schemas.openxmlformats.org/drawingml/2006/main">
            <a:off x="685800" y="387667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Persistence</a:t>
            </a:r>
          </a:p>
        </p:txBody>
      </p:sp>
      <p:sp>
        <p:nvSpPr>
          <p:cNvPr id="11" name="">
            <a:extLst xmlns:a="http://schemas.openxmlformats.org/drawingml/2006/main">
              <a:ext uri="{FF2B5EF4-FFF2-40B4-BE49-F238E27FC236}">
                <a16:creationId xmlns:a16="http://schemas.microsoft.com/office/drawing/2014/main" id="{9B1F48C2-EA64-4693-81C6-8F9DD30AB1CD}"/>
              </a:ext>
            </a:extLst>
          </p:cNvPr>
          <p:cNvSpPr>
            <a:spLocks xmlns:a="http://schemas.openxmlformats.org/drawingml/2006/main" noGrp="1"/>
          </p:cNvSpPr>
          <p:nvPr/>
        </p:nvSpPr>
        <p:spPr>
          <a:xfrm xmlns:a="http://schemas.openxmlformats.org/drawingml/2006/main">
            <a:off x="3438525" y="383857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Prisma and PostgreSQL</a:t>
            </a:r>
          </a:p>
        </p:txBody>
      </p:sp>
      <p:sp>
        <p:nvSpPr>
          <p:cNvPr id="12" name="">
            <a:extLst xmlns:a="http://schemas.openxmlformats.org/drawingml/2006/main">
              <a:ext uri="{FF2B5EF4-FFF2-40B4-BE49-F238E27FC236}">
                <a16:creationId xmlns:a16="http://schemas.microsoft.com/office/drawing/2014/main" id="{9BEB79E7-6F92-4188-A59D-FEFC31086E08}"/>
              </a:ext>
            </a:extLst>
          </p:cNvPr>
          <p:cNvSpPr>
            <a:spLocks xmlns:a="http://schemas.openxmlformats.org/drawingml/2006/main" noGrp="1"/>
          </p:cNvSpPr>
          <p:nvPr/>
        </p:nvSpPr>
        <p:spPr>
          <a:xfrm xmlns:a="http://schemas.openxmlformats.org/drawingml/2006/main">
            <a:off x="3438525" y="429577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Holdings, recommendations, scenarios and audit records</a:t>
            </a:r>
          </a:p>
        </p:txBody>
      </p:sp>
      <p:sp>
        <p:nvSpPr>
          <p:cNvPr id="13" name="">
            <a:extLst xmlns:a="http://schemas.openxmlformats.org/drawingml/2006/main">
              <a:ext uri="{FF2B5EF4-FFF2-40B4-BE49-F238E27FC236}">
                <a16:creationId xmlns:a16="http://schemas.microsoft.com/office/drawing/2014/main" id="{5BC7F607-1136-43CC-9B43-834895B46007}"/>
              </a:ext>
            </a:extLst>
          </p:cNvPr>
          <p:cNvSpPr>
            <a:spLocks xmlns:a="http://schemas.openxmlformats.org/drawingml/2006/main" noGrp="1"/>
          </p:cNvSpPr>
          <p:nvPr/>
        </p:nvSpPr>
        <p:spPr>
          <a:xfrm xmlns:a="http://schemas.openxmlformats.org/drawingml/2006/main">
            <a:off x="685800" y="493395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Optional integrations</a:t>
            </a:r>
          </a:p>
        </p:txBody>
      </p:sp>
      <p:sp>
        <p:nvSpPr>
          <p:cNvPr id="14" name="">
            <a:extLst xmlns:a="http://schemas.openxmlformats.org/drawingml/2006/main">
              <a:ext uri="{FF2B5EF4-FFF2-40B4-BE49-F238E27FC236}">
                <a16:creationId xmlns:a16="http://schemas.microsoft.com/office/drawing/2014/main" id="{98840A1D-C284-4EC7-8ED0-8BDE5F8A973C}"/>
              </a:ext>
            </a:extLst>
          </p:cNvPr>
          <p:cNvSpPr>
            <a:spLocks xmlns:a="http://schemas.openxmlformats.org/drawingml/2006/main" noGrp="1"/>
          </p:cNvSpPr>
          <p:nvPr/>
        </p:nvSpPr>
        <p:spPr>
          <a:xfrm xmlns:a="http://schemas.openxmlformats.org/drawingml/2006/main">
            <a:off x="3438525" y="48958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Inference and document retrieval</a:t>
            </a:r>
          </a:p>
        </p:txBody>
      </p:sp>
      <p:sp>
        <p:nvSpPr>
          <p:cNvPr id="15" name="">
            <a:extLst xmlns:a="http://schemas.openxmlformats.org/drawingml/2006/main">
              <a:ext uri="{FF2B5EF4-FFF2-40B4-BE49-F238E27FC236}">
                <a16:creationId xmlns:a16="http://schemas.microsoft.com/office/drawing/2014/main" id="{F84D69F1-2C67-4CA2-9779-368C5D3D3FDD}"/>
              </a:ext>
            </a:extLst>
          </p:cNvPr>
          <p:cNvSpPr>
            <a:spLocks xmlns:a="http://schemas.openxmlformats.org/drawingml/2006/main" noGrp="1"/>
          </p:cNvSpPr>
          <p:nvPr/>
        </p:nvSpPr>
        <p:spPr>
          <a:xfrm xmlns:a="http://schemas.openxmlformats.org/drawingml/2006/main">
            <a:off x="3438525" y="53530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Provider adapters and pgvector support outside the offline demo target</a:t>
            </a:r>
          </a:p>
        </p:txBody>
      </p:sp>
    </p:spTree>
    <p:extLst>
      <p:ext uri="{BB962C8B-B14F-4D97-AF65-F5344CB8AC3E}">
        <p14:creationId xmlns:p14="http://schemas.microsoft.com/office/powerpoint/2010/main" val="1609848592"/>
      </p:ext>
    </p:extLst>
  </p:cSld>
</p:sld>
</file>

<file path=ppt/slides/slide7.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1FD3B6-D5D3-4673-BD85-172C803876C1}"/>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Prototype status</a:t>
            </a:r>
          </a:p>
        </p:txBody>
      </p:sp>
      <p:sp>
        <p:nvSpPr>
          <p:cNvPr id="2" name="">
            <a:extLst xmlns:a="http://schemas.openxmlformats.org/drawingml/2006/main">
              <a:ext uri="{FF2B5EF4-FFF2-40B4-BE49-F238E27FC236}">
                <a16:creationId xmlns:a16="http://schemas.microsoft.com/office/drawing/2014/main" id="{70C9FDC3-AA74-4424-B77A-C430138DAADF}"/>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211A4408-F22B-4CDE-8F54-5B1857EC1176}"/>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0E22331-3C70-40DC-97BB-1EE2B1A4DA81}"/>
              </a:ext>
            </a:extLst>
          </p:cNvPr>
          <p:cNvSpPr>
            <a:spLocks xmlns:a="http://schemas.openxmlformats.org/drawingml/2006/main" noGrp="1"/>
          </p:cNvSpPr>
          <p:nvPr/>
        </p:nvSpPr>
        <p:spPr>
          <a:xfrm xmlns:a="http://schemas.openxmlformats.org/drawingml/2006/main">
            <a:off x="685800" y="18764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35571BB0-7861-43BF-B9EC-9E9A5A731796}"/>
              </a:ext>
            </a:extLst>
          </p:cNvPr>
          <p:cNvSpPr>
            <a:spLocks xmlns:a="http://schemas.openxmlformats.org/drawingml/2006/main" noGrp="1"/>
          </p:cNvSpPr>
          <p:nvPr/>
        </p:nvSpPr>
        <p:spPr>
          <a:xfrm xmlns:a="http://schemas.openxmlformats.org/drawingml/2006/main">
            <a:off x="704850" y="263842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Portfolio editing and CSV import</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Numeric scenario analysis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Recommendation review and audit trails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Sentinel guardrails and simulation</a:t>
            </a:r>
          </a:p>
        </p:txBody>
      </p:sp>
      <p:sp>
        <p:nvSpPr>
          <p:cNvPr id="6" name="">
            <a:extLst xmlns:a="http://schemas.openxmlformats.org/drawingml/2006/main">
              <a:ext uri="{FF2B5EF4-FFF2-40B4-BE49-F238E27FC236}">
                <a16:creationId xmlns:a16="http://schemas.microsoft.com/office/drawing/2014/main" id="{AEB3AC81-25B4-48CF-AD4A-A9927C8E3265}"/>
              </a:ext>
            </a:extLst>
          </p:cNvPr>
          <p:cNvSpPr>
            <a:spLocks xmlns:a="http://schemas.openxmlformats.org/drawingml/2006/main" noGrp="1"/>
          </p:cNvSpPr>
          <p:nvPr/>
        </p:nvSpPr>
        <p:spPr>
          <a:xfrm xmlns:a="http://schemas.openxmlformats.org/drawingml/2006/main">
            <a:off x="6819900" y="18764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Before submission</a:t>
            </a:r>
          </a:p>
        </p:txBody>
      </p:sp>
      <p:sp>
        <p:nvSpPr>
          <p:cNvPr id="7" name="">
            <a:extLst xmlns:a="http://schemas.openxmlformats.org/drawingml/2006/main">
              <a:ext uri="{FF2B5EF4-FFF2-40B4-BE49-F238E27FC236}">
                <a16:creationId xmlns:a16="http://schemas.microsoft.com/office/drawing/2014/main" id="{36D24B91-4EB6-49DB-B0FB-131F52A2962E}"/>
              </a:ext>
            </a:extLst>
          </p:cNvPr>
          <p:cNvSpPr>
            <a:spLocks xmlns:a="http://schemas.openxmlformats.org/drawingml/2006/main" noGrp="1"/>
          </p:cNvSpPr>
          <p:nvPr/>
        </p:nvSpPr>
        <p:spPr>
          <a:xfrm xmlns:a="http://schemas.openxmlformats.org/drawingml/2006/main">
            <a:off x="6838950" y="2638425"/>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Complete the offline synthetic demo</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Remove tracked development credentials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Verify a clean install and full walkthrough</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Publish source, slides and demo video</a:t>
            </a:r>
          </a:p>
        </p:txBody>
      </p:sp>
      <p:sp>
        <p:nvSpPr>
          <p:cNvPr id="8" name="">
            <a:extLst xmlns:a="http://schemas.openxmlformats.org/drawingml/2006/main">
              <a:ext uri="{FF2B5EF4-FFF2-40B4-BE49-F238E27FC236}">
                <a16:creationId xmlns:a16="http://schemas.microsoft.com/office/drawing/2014/main" id="{C6F8CE03-FA73-4015-B064-7594B00453EA}"/>
              </a:ext>
            </a:extLst>
          </p:cNvPr>
          <p:cNvSpPr>
            <a:spLocks xmlns:a="http://schemas.openxmlformats.org/drawingml/2006/main" noGrp="1"/>
          </p:cNvSpPr>
          <p:nvPr/>
        </p:nvSpPr>
        <p:spPr>
          <a:xfrm xmlns:a="http://schemas.openxmlformats.org/drawingml/2006/main">
            <a:off x="714375" y="557212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70"/>
                </a:solidFill>
                <a:latin typeface="Arial"/>
                <a:ea typeface="Arial"/>
                <a:cs typeface="Arial"/>
              </a:defRPr>
            </a:pPr>
            <a:r>
              <a:rPr sz="1725" b="0">
                <a:solidFill>
                  <a:srgbClr val="536A70"/>
                </a:solidFill>
                <a:latin typeface="Arial"/>
                <a:ea typeface="Arial"/>
                <a:cs typeface="Arial"/>
              </a:rPr>
              <a:t>Source review: 49 tests passed. TypeScript passed. Lint: 0 errors, 1 warning.</a:t>
            </a:r>
          </a:p>
        </p:txBody>
      </p:sp>
    </p:spTree>
    <p:extLst>
      <p:ext uri="{BB962C8B-B14F-4D97-AF65-F5344CB8AC3E}">
        <p14:creationId xmlns:p14="http://schemas.microsoft.com/office/powerpoint/2010/main" val="306387540"/>
      </p:ext>
    </p:extLst>
  </p:cSld>
</p:sld>
</file>

<file path=ppt/slides/slide8.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F5F622-B4D8-40AC-97F8-BAE853F1A96A}"/>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value of Decision Layer</a:t>
            </a:r>
          </a:p>
        </p:txBody>
      </p:sp>
      <p:sp>
        <p:nvSpPr>
          <p:cNvPr id="2" name="">
            <a:extLst xmlns:a="http://schemas.openxmlformats.org/drawingml/2006/main">
              <a:ext uri="{FF2B5EF4-FFF2-40B4-BE49-F238E27FC236}">
                <a16:creationId xmlns:a16="http://schemas.microsoft.com/office/drawing/2014/main" id="{75C0EBE7-94F2-4524-91AF-A35C9C5FB4FB}"/>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89518ECA-374D-4760-9246-015674830D20}"/>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02A6AB01-6437-44B7-AF90-B4FC58B8CA04}"/>
              </a:ext>
            </a:extLst>
          </p:cNvPr>
          <p:cNvSpPr>
            <a:spLocks xmlns:a="http://schemas.openxmlformats.org/drawingml/2006/main" noGrp="1"/>
          </p:cNvSpPr>
          <p:nvPr/>
        </p:nvSpPr>
        <p:spPr>
          <a:xfrm xmlns:a="http://schemas.openxmlformats.org/drawingml/2006/main">
            <a:off x="685800" y="1981200"/>
            <a:ext cx="104775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clear review path</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for an investment decision</a:t>
            </a:r>
          </a:p>
        </p:txBody>
      </p:sp>
      <p:sp>
        <p:nvSpPr>
          <p:cNvPr id="5" name="">
            <a:extLst xmlns:a="http://schemas.openxmlformats.org/drawingml/2006/main">
              <a:ext uri="{FF2B5EF4-FFF2-40B4-BE49-F238E27FC236}">
                <a16:creationId xmlns:a16="http://schemas.microsoft.com/office/drawing/2014/main" id="{64984870-75B3-439C-9BB4-58EC7217D8EF}"/>
              </a:ext>
            </a:extLst>
          </p:cNvPr>
          <p:cNvSpPr>
            <a:spLocks xmlns:a="http://schemas.openxmlformats.org/drawingml/2006/main" noGrp="1"/>
          </p:cNvSpPr>
          <p:nvPr/>
        </p:nvSpPr>
        <p:spPr>
          <a:xfrm xmlns:a="http://schemas.openxmlformats.org/drawingml/2006/main">
            <a:off x="733425" y="3990975"/>
            <a:ext cx="10429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Portfolio context and scenario assumptions stay visible</a:t>
            </a:r>
          </a:p>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while the reviewer examines a recommendation.</a:t>
            </a:r>
          </a:p>
        </p:txBody>
      </p:sp>
      <p:sp>
        <p:nvSpPr>
          <p:cNvPr id="6" name="">
            <a:extLst xmlns:a="http://schemas.openxmlformats.org/drawingml/2006/main">
              <a:ext uri="{FF2B5EF4-FFF2-40B4-BE49-F238E27FC236}">
                <a16:creationId xmlns:a16="http://schemas.microsoft.com/office/drawing/2014/main" id="{F4007A8C-91A4-4C58-964A-3EF366846427}"/>
              </a:ext>
            </a:extLst>
          </p:cNvPr>
          <p:cNvSpPr>
            <a:spLocks xmlns:a="http://schemas.openxmlformats.org/drawingml/2006/main" noGrp="1"/>
          </p:cNvSpPr>
          <p:nvPr/>
        </p:nvSpPr>
        <p:spPr>
          <a:xfrm xmlns:a="http://schemas.openxmlformats.org/drawingml/2006/main">
            <a:off x="733425" y="53340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4E2C8"/>
                </a:solidFill>
                <a:latin typeface="Arial"/>
                <a:ea typeface="Arial"/>
                <a:cs typeface="Arial"/>
              </a:defRPr>
            </a:pPr>
            <a:r>
              <a:rPr sz="1875" b="1">
                <a:solidFill>
                  <a:srgbClr val="84E2C8"/>
                </a:solidFill>
                <a:latin typeface="Arial"/>
                <a:ea typeface="Arial"/>
                <a:cs typeface="Arial"/>
              </a:rPr>
              <a:t>Next milestone</a:t>
            </a:r>
          </a:p>
        </p:txBody>
      </p:sp>
      <p:sp>
        <p:nvSpPr>
          <p:cNvPr id="7" name="">
            <a:extLst xmlns:a="http://schemas.openxmlformats.org/drawingml/2006/main">
              <a:ext uri="{FF2B5EF4-FFF2-40B4-BE49-F238E27FC236}">
                <a16:creationId xmlns:a16="http://schemas.microsoft.com/office/drawing/2014/main" id="{E1398CDC-905E-40A9-ACFA-1EC14D4CF090}"/>
              </a:ext>
            </a:extLst>
          </p:cNvPr>
          <p:cNvSpPr>
            <a:spLocks xmlns:a="http://schemas.openxmlformats.org/drawingml/2006/main" noGrp="1"/>
          </p:cNvSpPr>
          <p:nvPr/>
        </p:nvSpPr>
        <p:spPr>
          <a:xfrm xmlns:a="http://schemas.openxmlformats.org/drawingml/2006/main">
            <a:off x="3571875" y="5334000"/>
            <a:ext cx="7934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 reproducible synthetic demo with saved review history</a:t>
            </a:r>
          </a:p>
        </p:txBody>
      </p:sp>
    </p:spTree>
    <p:extLst>
      <p:ext uri="{BB962C8B-B14F-4D97-AF65-F5344CB8AC3E}">
        <p14:creationId xmlns:p14="http://schemas.microsoft.com/office/powerpoint/2010/main" val="1179842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2026-09-27T16:03:08.5650000Z</dcterms:created>
  <dcterms:modified xsi:type="dcterms:W3CDTF">2026-09-27T16:03:08.5650000Z</dcterms:modified>
</coreProperties>
</file>